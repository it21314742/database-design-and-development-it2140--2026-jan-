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94" r:id="rId5"/>
    <p:sldId id="295" r:id="rId6"/>
    <p:sldId id="293" r:id="rId7"/>
    <p:sldId id="296" r:id="rId8"/>
    <p:sldId id="302" r:id="rId9"/>
    <p:sldId id="303" r:id="rId10"/>
    <p:sldId id="261" r:id="rId11"/>
    <p:sldId id="262" r:id="rId12"/>
    <p:sldId id="304" r:id="rId13"/>
    <p:sldId id="264" r:id="rId14"/>
    <p:sldId id="266" r:id="rId15"/>
    <p:sldId id="297" r:id="rId16"/>
    <p:sldId id="268" r:id="rId17"/>
    <p:sldId id="298" r:id="rId18"/>
    <p:sldId id="299" r:id="rId19"/>
    <p:sldId id="300" r:id="rId20"/>
    <p:sldId id="301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88" y="707849"/>
            <a:ext cx="10993549" cy="1475013"/>
          </a:xfrm>
        </p:spPr>
        <p:txBody>
          <a:bodyPr/>
          <a:lstStyle/>
          <a:p>
            <a:r>
              <a:rPr lang="en-US" dirty="0"/>
              <a:t>Database Design and Development (it 2140)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1" y="2182862"/>
            <a:ext cx="10993546" cy="1107564"/>
          </a:xfrm>
        </p:spPr>
        <p:txBody>
          <a:bodyPr>
            <a:normAutofit/>
          </a:bodyPr>
          <a:lstStyle/>
          <a:p>
            <a:r>
              <a:rPr lang="en-US" sz="2400" dirty="0"/>
              <a:t>Lecture 01- Introduction to </a:t>
            </a:r>
            <a:r>
              <a:rPr lang="en-US" sz="2400" dirty="0" err="1"/>
              <a:t>dbms</a:t>
            </a:r>
            <a:r>
              <a:rPr lang="en-US" sz="2400" dirty="0"/>
              <a:t>, database design process and Data-Intensive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1423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Lecture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Define key database-related terminologies </a:t>
            </a:r>
          </a:p>
          <a:p>
            <a:r>
              <a:rPr lang="en-US" sz="2800" dirty="0"/>
              <a:t>Introduction to databases, DBMS and their benefits</a:t>
            </a:r>
          </a:p>
          <a:p>
            <a:r>
              <a:rPr lang="en-US" sz="2800" dirty="0"/>
              <a:t>Database design process</a:t>
            </a:r>
          </a:p>
          <a:p>
            <a:r>
              <a:rPr lang="en-US" sz="2800" dirty="0"/>
              <a:t>Data-intensive applications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98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Explain what is a database and a DBMS.</a:t>
            </a:r>
          </a:p>
          <a:p>
            <a:r>
              <a:rPr lang="en-US" sz="2800" dirty="0"/>
              <a:t>Identify situations where using a database would be beneficial.</a:t>
            </a:r>
          </a:p>
          <a:p>
            <a:r>
              <a:rPr lang="en-US" sz="2800" dirty="0"/>
              <a:t>Explain the database design process.</a:t>
            </a:r>
          </a:p>
          <a:p>
            <a:r>
              <a:rPr lang="en-US" sz="2800" dirty="0"/>
              <a:t>Identify the importance of DBMSs in data-intensive applications.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8927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A5216-6EA3-7A5F-578C-D346C1DDB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0720F-938A-0204-CDE5-920EBE86C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is Data vs Information?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3DA0A-2438-D6E5-8C17-83B791837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</a:t>
            </a:r>
            <a:r>
              <a:rPr lang="en-US" sz="2800" dirty="0"/>
              <a:t> refers to raw, unprocessed facts or values that, on their own, may not carry meaning. It can be in the form of numbers, text, images, or symbols.</a:t>
            </a:r>
          </a:p>
          <a:p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Information</a:t>
            </a:r>
            <a:r>
              <a:rPr lang="en-US" sz="2800" dirty="0"/>
              <a:t> is data that has been processed, organized, or structured in a way that makes it meaningful and useful.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84695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FA754-A0B8-BD60-C1D0-415F6629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C49EA-2413-E659-ECAE-CC8545AC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is Data vs Information?</a:t>
            </a:r>
          </a:p>
        </p:txBody>
      </p:sp>
      <p:pic>
        <p:nvPicPr>
          <p:cNvPr id="4" name="Content Placeholder 3" descr="A close up of a number&#10;&#10;AI-generated content may be incorrect.">
            <a:extLst>
              <a:ext uri="{FF2B5EF4-FFF2-40B4-BE49-F238E27FC236}">
                <a16:creationId xmlns:a16="http://schemas.microsoft.com/office/drawing/2014/main" id="{CEFEE78B-48E7-E09B-081D-210DCC28E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2112986"/>
            <a:ext cx="5517357" cy="3678238"/>
          </a:xfrm>
          <a:prstGeom prst="rect">
            <a:avLst/>
          </a:prstGeom>
        </p:spPr>
      </p:pic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D4CDB4B8-894F-9985-3801-F93A70109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12985"/>
            <a:ext cx="5517356" cy="367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6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5DCCD-021B-B591-C5FD-A38499358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64500-13AE-03FB-EBE2-0DE86267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is a database &amp; a </a:t>
            </a:r>
            <a:r>
              <a:rPr lang="en-US" sz="3600" dirty="0" err="1"/>
              <a:t>dbms</a:t>
            </a:r>
            <a:r>
              <a:rPr lang="en-US" sz="36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CCDE2-086B-CE9D-2431-A190DA0B7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database</a:t>
            </a:r>
            <a:r>
              <a:rPr lang="en-US" sz="2800" dirty="0"/>
              <a:t> is a collection of related data.</a:t>
            </a:r>
          </a:p>
          <a:p>
            <a:r>
              <a:rPr lang="en-US" sz="2800" dirty="0"/>
              <a:t>A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database management systems (DBMS) </a:t>
            </a:r>
            <a:r>
              <a:rPr lang="en-US" sz="2800" dirty="0"/>
              <a:t>is a general-purpose software system that facilitates the processes of defining, constructing, manipulating, and sharing databases among various users and applications.</a:t>
            </a:r>
          </a:p>
          <a:p>
            <a:pPr lvl="1"/>
            <a:r>
              <a:rPr lang="en-US" sz="2600" dirty="0"/>
              <a:t>What do you understand by defining, constructing, manipulating and sharing databases?</a:t>
            </a:r>
          </a:p>
        </p:txBody>
      </p:sp>
    </p:spTree>
    <p:extLst>
      <p:ext uri="{BB962C8B-B14F-4D97-AF65-F5344CB8AC3E}">
        <p14:creationId xmlns:p14="http://schemas.microsoft.com/office/powerpoint/2010/main" val="1488647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0C9E-8089-922F-4345-CB8B01FAB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E15F-E6B0-E716-FFE0-BEC58F4B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is a database &amp; a </a:t>
            </a:r>
            <a:r>
              <a:rPr lang="en-US" sz="3600" dirty="0" err="1"/>
              <a:t>dbms</a:t>
            </a:r>
            <a:r>
              <a:rPr lang="en-US" sz="3600" dirty="0"/>
              <a:t>?</a:t>
            </a:r>
          </a:p>
        </p:txBody>
      </p:sp>
      <p:pic>
        <p:nvPicPr>
          <p:cNvPr id="4" name="Content Placeholder 3" descr="A diagram of a database&#10;&#10;AI-generated content may be incorrect.">
            <a:extLst>
              <a:ext uri="{FF2B5EF4-FFF2-40B4-BE49-F238E27FC236}">
                <a16:creationId xmlns:a16="http://schemas.microsoft.com/office/drawing/2014/main" id="{032B5C79-170C-9464-9EF2-4147A3BA3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666" y="1907151"/>
            <a:ext cx="4763604" cy="47636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C5CA18-E4D7-BEA2-486F-1F42C29FD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7151"/>
            <a:ext cx="4901784" cy="476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1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A2358-1587-28A7-238D-DCD4C6B15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9FBE-CE2D-52F1-950A-6CCCA667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❓ Question for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D565A-7329-F656-7F70-5524D660F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Can you identify one real-world place or system where databases are used? For each example, </a:t>
            </a:r>
          </a:p>
          <a:p>
            <a:pPr>
              <a:buNone/>
            </a:pPr>
            <a:r>
              <a:rPr lang="en-US" sz="2400" dirty="0"/>
              <a:t>Explain: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What kind of data is stored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Who uses the data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Why a database is necessary in that context?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2393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DC6BE-FC7B-1BCE-2612-DDD9C069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A3E8F-B6F4-9A5D-78DD-B704590B6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Database System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FBE1C-6A86-9192-CD52-F4BA47034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sz="2800" dirty="0"/>
              <a:t>Database system environment normally can be considered to have five major parts.</a:t>
            </a:r>
          </a:p>
          <a:p>
            <a:pPr marL="914400" lvl="1" indent="-457200" algn="just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2800" dirty="0"/>
              <a:t>Hardware</a:t>
            </a:r>
          </a:p>
          <a:p>
            <a:pPr marL="914400" lvl="1" indent="-457200" algn="just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2800" dirty="0"/>
              <a:t>Software</a:t>
            </a:r>
          </a:p>
          <a:p>
            <a:pPr marL="914400" lvl="1" indent="-457200" algn="just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2800" dirty="0"/>
              <a:t>People</a:t>
            </a:r>
          </a:p>
          <a:p>
            <a:pPr marL="914400" lvl="1" indent="-457200" algn="just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2800" dirty="0"/>
              <a:t>Procedures</a:t>
            </a:r>
          </a:p>
          <a:p>
            <a:pPr marL="914400" lvl="1" indent="-457200" algn="just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2800" dirty="0"/>
              <a:t>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971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Database approach </a:t>
            </a:r>
            <a:r>
              <a:rPr lang="en-US" sz="3600" dirty="0" err="1"/>
              <a:t>vs</a:t>
            </a:r>
            <a:r>
              <a:rPr lang="en-US" sz="3600" dirty="0"/>
              <a:t> file processing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Database system is of self-describing nature </a:t>
            </a:r>
          </a:p>
          <a:p>
            <a:r>
              <a:rPr lang="en-US" sz="2800" dirty="0"/>
              <a:t>Database enables insulation between programs and data, and data abstraction</a:t>
            </a:r>
          </a:p>
          <a:p>
            <a:r>
              <a:rPr lang="en-US" sz="2800" dirty="0"/>
              <a:t>Databases support of multiple views of the data</a:t>
            </a:r>
          </a:p>
          <a:p>
            <a:r>
              <a:rPr lang="en-US" sz="2800" dirty="0"/>
              <a:t>Sharing of data and multiuser transaction processing</a:t>
            </a:r>
          </a:p>
          <a:p>
            <a:r>
              <a:rPr lang="en-US" sz="2800" dirty="0"/>
              <a:t>Security and access levels</a:t>
            </a:r>
          </a:p>
        </p:txBody>
      </p:sp>
    </p:spTree>
    <p:extLst>
      <p:ext uri="{BB962C8B-B14F-4D97-AF65-F5344CB8AC3E}">
        <p14:creationId xmlns:p14="http://schemas.microsoft.com/office/powerpoint/2010/main" val="4063049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Advantages of database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independence </a:t>
            </a:r>
            <a:r>
              <a:rPr lang="en-US" sz="2400" dirty="0"/>
              <a:t>– application programs are independent of the way the data is structured and stored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Efficient data access </a:t>
            </a:r>
            <a:r>
              <a:rPr lang="en-US" sz="2400" dirty="0"/>
              <a:t>– make the data retrieval efficient using sophisticated techniques to store and access data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Enforcing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integrity</a:t>
            </a:r>
            <a:r>
              <a:rPr lang="en-US" sz="2400" dirty="0"/>
              <a:t> – provide capabilities to define and enforce constraints</a:t>
            </a:r>
          </a:p>
          <a:p>
            <a:pPr lvl="1"/>
            <a:r>
              <a:rPr lang="en-US" sz="2200" dirty="0"/>
              <a:t>Ex: Data type for a name should be string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Restricting unauthorized access</a:t>
            </a:r>
            <a:r>
              <a:rPr lang="en-US" sz="2400" dirty="0">
                <a:solidFill>
                  <a:schemeClr val="tx1"/>
                </a:solidFill>
              </a:rPr>
              <a:t> – </a:t>
            </a:r>
            <a:r>
              <a:rPr lang="en-US" sz="2200" dirty="0"/>
              <a:t>allows only authorized users to access data</a:t>
            </a:r>
          </a:p>
          <a:p>
            <a:r>
              <a:rPr lang="en-US" sz="2400" dirty="0">
                <a:solidFill>
                  <a:srgbClr val="0070C0"/>
                </a:solidFill>
              </a:rPr>
              <a:t>Providing backup and recovery </a:t>
            </a:r>
            <a:r>
              <a:rPr lang="en-US" sz="2400" dirty="0"/>
              <a:t>– protects users from the effect of system failures</a:t>
            </a:r>
          </a:p>
          <a:p>
            <a:r>
              <a:rPr lang="en-US" sz="2400" dirty="0">
                <a:solidFill>
                  <a:srgbClr val="0070C0"/>
                </a:solidFill>
              </a:rPr>
              <a:t>Concurrent access </a:t>
            </a:r>
            <a:r>
              <a:rPr lang="en-US" sz="2400" dirty="0"/>
              <a:t>– simultaneous access of data by different users</a:t>
            </a:r>
          </a:p>
        </p:txBody>
      </p:sp>
    </p:spTree>
    <p:extLst>
      <p:ext uri="{BB962C8B-B14F-4D97-AF65-F5344CB8AC3E}">
        <p14:creationId xmlns:p14="http://schemas.microsoft.com/office/powerpoint/2010/main" val="1320891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7573A-0AF2-C22C-4B9E-952A0170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0A2B0-B620-AA52-99A6-22A99F807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76CD8-5A8F-0F39-971F-AB40B2457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589928"/>
            <a:ext cx="11029615" cy="3678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Why is Database Design important?</a:t>
            </a:r>
          </a:p>
          <a:p>
            <a:pPr marL="0" indent="0">
              <a:buNone/>
            </a:pPr>
            <a:r>
              <a:rPr lang="en-US" sz="2400" dirty="0"/>
              <a:t>Without careful planning you may create a database that… </a:t>
            </a:r>
          </a:p>
          <a:p>
            <a:r>
              <a:rPr lang="en-US" sz="2400" dirty="0"/>
              <a:t>contains unnecessary data which occupies the storage space</a:t>
            </a:r>
          </a:p>
          <a:p>
            <a:r>
              <a:rPr lang="en-US" sz="2400" dirty="0"/>
              <a:t>omits data required to create critical reports</a:t>
            </a:r>
          </a:p>
          <a:p>
            <a:r>
              <a:rPr lang="en-US" sz="2400" dirty="0"/>
              <a:t>takes a considerable time to respond to user questions</a:t>
            </a:r>
          </a:p>
          <a:p>
            <a:r>
              <a:rPr lang="en-US" sz="2400" dirty="0"/>
              <a:t>produces results that are incorrect or inconsistent</a:t>
            </a:r>
          </a:p>
          <a:p>
            <a:r>
              <a:rPr lang="en-US" sz="2400" dirty="0"/>
              <a:t>is unable to accommodate changes in the user's requirements</a:t>
            </a:r>
          </a:p>
          <a:p>
            <a:pPr marL="0" indent="0">
              <a:buNone/>
            </a:pPr>
            <a:r>
              <a:rPr lang="en-US" sz="2400" dirty="0"/>
              <a:t>A poorly designed database will require more time in the long-term…!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4339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Database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There are six main phases of the process to develop a database</a:t>
            </a:r>
          </a:p>
          <a:p>
            <a:pPr lvl="1"/>
            <a:r>
              <a:rPr lang="en-US" sz="2600" dirty="0"/>
              <a:t>Requirement collection and analysis</a:t>
            </a:r>
          </a:p>
          <a:p>
            <a:pPr lvl="1"/>
            <a:r>
              <a:rPr lang="en-US" sz="2600" dirty="0"/>
              <a:t>Conceptual database design</a:t>
            </a:r>
          </a:p>
          <a:p>
            <a:pPr lvl="1"/>
            <a:r>
              <a:rPr lang="en-US" sz="2600" dirty="0"/>
              <a:t>Logical database design</a:t>
            </a:r>
          </a:p>
          <a:p>
            <a:pPr lvl="1"/>
            <a:r>
              <a:rPr lang="en-US" sz="2600" dirty="0"/>
              <a:t>Schema refinement</a:t>
            </a:r>
          </a:p>
          <a:p>
            <a:pPr lvl="1"/>
            <a:r>
              <a:rPr lang="en-US" sz="2600" dirty="0"/>
              <a:t>Physical database design</a:t>
            </a:r>
          </a:p>
          <a:p>
            <a:pPr lvl="1"/>
            <a:r>
              <a:rPr lang="en-US" sz="2600" dirty="0"/>
              <a:t>Security design</a:t>
            </a:r>
          </a:p>
        </p:txBody>
      </p:sp>
    </p:spTree>
    <p:extLst>
      <p:ext uri="{BB962C8B-B14F-4D97-AF65-F5344CB8AC3E}">
        <p14:creationId xmlns:p14="http://schemas.microsoft.com/office/powerpoint/2010/main" val="62628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 1: Requirement collection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goals of the requirements analysis are:</a:t>
            </a:r>
          </a:p>
          <a:p>
            <a:r>
              <a:rPr lang="en-US" sz="2400" dirty="0"/>
              <a:t>to determine the </a:t>
            </a:r>
            <a:r>
              <a:rPr lang="en-US" sz="2400" b="1" dirty="0"/>
              <a:t>data requirements </a:t>
            </a:r>
            <a:r>
              <a:rPr lang="en-US" sz="2400" dirty="0"/>
              <a:t>of the database in terms of objects</a:t>
            </a:r>
          </a:p>
          <a:p>
            <a:r>
              <a:rPr lang="en-US" sz="2400" dirty="0"/>
              <a:t>to identify and describe the information about these objects</a:t>
            </a:r>
          </a:p>
          <a:p>
            <a:r>
              <a:rPr lang="en-US" sz="2400" dirty="0"/>
              <a:t>to identify the relationships among these objects</a:t>
            </a:r>
          </a:p>
          <a:p>
            <a:r>
              <a:rPr lang="en-US" sz="2400" dirty="0"/>
              <a:t>to identify different transactions that will be performed on the database </a:t>
            </a:r>
          </a:p>
          <a:p>
            <a:r>
              <a:rPr lang="en-US" sz="2400" dirty="0"/>
              <a:t>to identify performance, integrity, security or administrative constraints to be imposed on the database</a:t>
            </a:r>
          </a:p>
          <a:p>
            <a:r>
              <a:rPr lang="en-US" sz="2400" dirty="0"/>
              <a:t>to identify design and implementation constraints if any (ex: specific technologies, hardware and software, programming languages, policies, standards, </a:t>
            </a:r>
            <a:r>
              <a:rPr lang="en-US" sz="2400" dirty="0" err="1"/>
              <a:t>etc</a:t>
            </a:r>
            <a:r>
              <a:rPr lang="en-US" sz="2400" dirty="0"/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714951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7DE33-718F-BA1A-9255-B7D4CB1B4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847C4-FF11-1B00-1308-590EA75D2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 1: Requirement collection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2C57D-0EFB-58B7-17EE-A807958A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15" y="2780998"/>
            <a:ext cx="11029615" cy="3678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Information needed for the requirements analysis can be gathered in several ways:</a:t>
            </a:r>
          </a:p>
          <a:p>
            <a:r>
              <a:rPr lang="en-US" sz="2400" b="1" dirty="0"/>
              <a:t> Review of existing documents </a:t>
            </a:r>
            <a:r>
              <a:rPr lang="en-US" sz="2400" dirty="0"/>
              <a:t>– </a:t>
            </a:r>
          </a:p>
          <a:p>
            <a:pPr marL="0" indent="0">
              <a:buNone/>
            </a:pPr>
            <a:r>
              <a:rPr lang="en-US" sz="2400" dirty="0"/>
              <a:t>Can become familiar with the organization/ activity you need to model by reviewing the existing documentation. Ex: existing forms and reports, written guidelines, job descriptions, personal narratives, </a:t>
            </a:r>
            <a:r>
              <a:rPr lang="en-US" sz="2400" dirty="0" err="1"/>
              <a:t>etc</a:t>
            </a:r>
            <a:r>
              <a:rPr lang="en-US" sz="2400" dirty="0"/>
              <a:t>…</a:t>
            </a:r>
          </a:p>
          <a:p>
            <a:r>
              <a:rPr lang="en-US" sz="2400" b="1" dirty="0"/>
              <a:t>Interviews with end users </a:t>
            </a:r>
            <a:r>
              <a:rPr lang="en-US" sz="2400" dirty="0"/>
              <a:t>– </a:t>
            </a:r>
          </a:p>
          <a:p>
            <a:pPr marL="0" indent="0">
              <a:buNone/>
            </a:pPr>
            <a:r>
              <a:rPr lang="en-US" sz="2400" dirty="0"/>
              <a:t>Can organize individual/group meetings with the end users. Can use a blackboard, flip chart, or overhead transparencies to record information gathered from the interviews.</a:t>
            </a:r>
          </a:p>
          <a:p>
            <a:r>
              <a:rPr lang="en-US" sz="2400" b="1" dirty="0"/>
              <a:t>Review of existing automated systems </a:t>
            </a:r>
            <a:r>
              <a:rPr lang="en-US" sz="2400" dirty="0"/>
              <a:t>– </a:t>
            </a:r>
          </a:p>
          <a:p>
            <a:pPr marL="0" indent="0">
              <a:buNone/>
            </a:pPr>
            <a:r>
              <a:rPr lang="en-US" sz="2400" dirty="0"/>
              <a:t>Can review the system design specifications and documentation, if the organization already has an automated system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35254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 2: Conceptual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6600CC"/>
                </a:solidFill>
              </a:rPr>
              <a:t>information gathered </a:t>
            </a:r>
            <a:r>
              <a:rPr lang="en-US" sz="2400" dirty="0"/>
              <a:t>in the requirements analysis phase is used to create a: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6600CC"/>
                </a:solidFill>
              </a:rPr>
              <a:t>high-level description of the data </a:t>
            </a:r>
            <a:r>
              <a:rPr lang="en-US" sz="2400" dirty="0"/>
              <a:t>in a </a:t>
            </a:r>
            <a:r>
              <a:rPr lang="en-US" sz="2400" dirty="0">
                <a:solidFill>
                  <a:srgbClr val="FF0000"/>
                </a:solidFill>
              </a:rPr>
              <a:t>conceptual data model or </a:t>
            </a:r>
            <a:r>
              <a:rPr lang="en-US" sz="2400" i="1" dirty="0">
                <a:solidFill>
                  <a:srgbClr val="008000"/>
                </a:solidFill>
              </a:rPr>
              <a:t>Semantic Data Model.</a:t>
            </a:r>
            <a:endParaRPr lang="en-US" sz="2400" dirty="0">
              <a:solidFill>
                <a:srgbClr val="008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400" dirty="0"/>
          </a:p>
          <a:p>
            <a:pPr marL="400050" indent="-400050">
              <a:buNone/>
              <a:defRPr/>
            </a:pPr>
            <a:r>
              <a:rPr lang="en-US" sz="2400" dirty="0" err="1"/>
              <a:t>Eg.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66"/>
                </a:solidFill>
              </a:rPr>
              <a:t>ER Model </a:t>
            </a:r>
            <a:r>
              <a:rPr lang="en-US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71248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CF454-92FD-F944-B3C3-B54B3E4D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5613-B453-9EDF-E836-A4AAD34AF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 3: Logical 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91AC7-8D20-02C8-CAD5-68FC75662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dirty="0"/>
              <a:t>	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In this step, we </a:t>
            </a:r>
            <a:r>
              <a:rPr lang="en-US" sz="2400" dirty="0">
                <a:solidFill>
                  <a:srgbClr val="008000"/>
                </a:solidFill>
              </a:rPr>
              <a:t>determine</a:t>
            </a:r>
            <a:r>
              <a:rPr lang="en-US" sz="2400" dirty="0"/>
              <a:t> the</a:t>
            </a:r>
            <a:r>
              <a:rPr lang="en-US" sz="2400" dirty="0">
                <a:solidFill>
                  <a:srgbClr val="FF6600"/>
                </a:solidFill>
              </a:rPr>
              <a:t> DBMS to implement </a:t>
            </a:r>
            <a:r>
              <a:rPr lang="en-US" sz="2400" dirty="0"/>
              <a:t>the database &amp; also the </a:t>
            </a:r>
            <a:r>
              <a:rPr lang="en-US" sz="2400" dirty="0">
                <a:solidFill>
                  <a:srgbClr val="FF6600"/>
                </a:solidFill>
              </a:rPr>
              <a:t>data model.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We utilize the </a:t>
            </a:r>
            <a:r>
              <a:rPr lang="en-US" sz="2400" dirty="0">
                <a:solidFill>
                  <a:srgbClr val="008000"/>
                </a:solidFill>
              </a:rPr>
              <a:t>conceptual schema </a:t>
            </a:r>
            <a:r>
              <a:rPr lang="en-US" sz="2400" dirty="0"/>
              <a:t>created in the previous step and </a:t>
            </a:r>
            <a:r>
              <a:rPr lang="en-US" sz="2400" dirty="0">
                <a:solidFill>
                  <a:srgbClr val="3333CC"/>
                </a:solidFill>
              </a:rPr>
              <a:t>convert </a:t>
            </a:r>
            <a:r>
              <a:rPr lang="en-US" sz="2400" dirty="0"/>
              <a:t>it into a </a:t>
            </a:r>
            <a:r>
              <a:rPr lang="en-US" sz="2400" dirty="0">
                <a:solidFill>
                  <a:srgbClr val="FF6600"/>
                </a:solidFill>
              </a:rPr>
              <a:t>schema of a particular data model*</a:t>
            </a:r>
            <a:r>
              <a:rPr lang="en-US" sz="2400" dirty="0"/>
              <a:t> (e.g. Relational Data Model 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*we will cover this in the next two lectures.</a:t>
            </a:r>
          </a:p>
        </p:txBody>
      </p:sp>
    </p:spTree>
    <p:extLst>
      <p:ext uri="{BB962C8B-B14F-4D97-AF65-F5344CB8AC3E}">
        <p14:creationId xmlns:p14="http://schemas.microsoft.com/office/powerpoint/2010/main" val="21323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DF7E7-E6AE-3125-3B0E-B0717C37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3A80D-36C4-8869-8C7B-7C6E130C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 4: Schema 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B4C42-CBF4-4303-1FF4-97EF4DC98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sz="2400" dirty="0"/>
          </a:p>
          <a:p>
            <a:r>
              <a:rPr lang="en-US" sz="2400" dirty="0"/>
              <a:t>	The schema created by the logical database design phase is </a:t>
            </a:r>
            <a:r>
              <a:rPr lang="en-US" sz="2400" dirty="0">
                <a:solidFill>
                  <a:srgbClr val="FF6600"/>
                </a:solidFill>
              </a:rPr>
              <a:t>further refined </a:t>
            </a:r>
            <a:r>
              <a:rPr lang="en-US" sz="2400" dirty="0"/>
              <a:t>for potential problems such as </a:t>
            </a:r>
            <a:r>
              <a:rPr lang="en-US" sz="2400" dirty="0">
                <a:solidFill>
                  <a:srgbClr val="008000"/>
                </a:solidFill>
              </a:rPr>
              <a:t>redundancies.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54492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BFC12-6D92-5C64-1ADE-2AF291CE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E8805-446F-E39E-7F02-3A445423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 5: Physical 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B69A1-DA49-CE56-FA04-94D21D1C9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sz="2400" dirty="0"/>
          </a:p>
          <a:p>
            <a:r>
              <a:rPr lang="en-US" sz="2400" dirty="0"/>
              <a:t>	In this step, </a:t>
            </a:r>
            <a:r>
              <a:rPr lang="en-US" sz="2400" dirty="0">
                <a:solidFill>
                  <a:srgbClr val="FF6600"/>
                </a:solidFill>
              </a:rPr>
              <a:t>performance criteria </a:t>
            </a:r>
            <a:r>
              <a:rPr lang="en-US" sz="2400" dirty="0"/>
              <a:t>are taken into consideration and </a:t>
            </a:r>
            <a:r>
              <a:rPr lang="en-US" sz="2400" dirty="0">
                <a:solidFill>
                  <a:srgbClr val="FF6600"/>
                </a:solidFill>
              </a:rPr>
              <a:t>further enhancements </a:t>
            </a:r>
            <a:r>
              <a:rPr lang="en-US" sz="2400" dirty="0"/>
              <a:t>to the schema &amp; </a:t>
            </a:r>
            <a:r>
              <a:rPr lang="en-US" sz="2400" dirty="0">
                <a:solidFill>
                  <a:srgbClr val="FF6600"/>
                </a:solidFill>
              </a:rPr>
              <a:t>creation of indexes </a:t>
            </a:r>
            <a:r>
              <a:rPr lang="en-US" sz="2400" dirty="0"/>
              <a:t>are considered.</a:t>
            </a:r>
          </a:p>
        </p:txBody>
      </p:sp>
    </p:spTree>
    <p:extLst>
      <p:ext uri="{BB962C8B-B14F-4D97-AF65-F5344CB8AC3E}">
        <p14:creationId xmlns:p14="http://schemas.microsoft.com/office/powerpoint/2010/main" val="4147748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186C-164C-95B0-0E1D-590100C60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118AE-B570-7257-21E6-7074BA94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 6: Security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E6797-C1FE-A448-64CC-D7FE71E08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FF6600"/>
                </a:solidFill>
              </a:rPr>
              <a:t> Different user groups </a:t>
            </a:r>
            <a:r>
              <a:rPr lang="en-US" sz="2400" dirty="0"/>
              <a:t>and their </a:t>
            </a:r>
            <a:r>
              <a:rPr lang="en-US" sz="2400" dirty="0">
                <a:solidFill>
                  <a:srgbClr val="FF6600"/>
                </a:solidFill>
              </a:rPr>
              <a:t>roles are identified</a:t>
            </a:r>
            <a:r>
              <a:rPr lang="en-US" sz="2400" dirty="0"/>
              <a:t>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Appropriate </a:t>
            </a:r>
            <a:r>
              <a:rPr lang="en-US" sz="2400" dirty="0">
                <a:solidFill>
                  <a:srgbClr val="008000"/>
                </a:solidFill>
              </a:rPr>
              <a:t>levels of access </a:t>
            </a:r>
            <a:r>
              <a:rPr lang="en-US" sz="2400" dirty="0"/>
              <a:t>are then provided to the data </a:t>
            </a:r>
            <a:r>
              <a:rPr lang="en-US" sz="2400" dirty="0">
                <a:solidFill>
                  <a:srgbClr val="008000"/>
                </a:solidFill>
              </a:rPr>
              <a:t>ensuring that users have access to only the necessary data.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 err="1">
                <a:solidFill>
                  <a:srgbClr val="6600CC"/>
                </a:solidFill>
              </a:rPr>
              <a:t>Eg.</a:t>
            </a:r>
            <a:r>
              <a:rPr lang="en-US" sz="2400" dirty="0">
                <a:solidFill>
                  <a:srgbClr val="6600CC"/>
                </a:solidFill>
              </a:rPr>
              <a:t> Bank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solidFill>
                  <a:srgbClr val="6600CC"/>
                </a:solidFill>
              </a:rPr>
              <a:t>Customer  – read access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solidFill>
                  <a:srgbClr val="6600CC"/>
                </a:solidFill>
              </a:rPr>
              <a:t>Teller        – read/update (limited)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solidFill>
                  <a:srgbClr val="6600CC"/>
                </a:solidFill>
              </a:rPr>
              <a:t>Manager    – read/update  </a:t>
            </a:r>
          </a:p>
        </p:txBody>
      </p:sp>
    </p:spTree>
    <p:extLst>
      <p:ext uri="{BB962C8B-B14F-4D97-AF65-F5344CB8AC3E}">
        <p14:creationId xmlns:p14="http://schemas.microsoft.com/office/powerpoint/2010/main" val="1695484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7DCED-E4EC-6BD7-0767-B395CC2C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7A64-5277-272E-4802-88243957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Database Hosting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5F05C-47FA-6AFF-F1EA-0BF67A324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Database hosting defines where and how a database is deployed,  stored, and accessed.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Selecting the appropriate hosting type depends on: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Scalability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Cost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Security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201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6C65-A495-D1ED-2716-D9CBFC209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2F7AF-272E-0EB0-D141-84E8691C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Types of Database Hosting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B0078-75DC-B871-0A7B-24549282B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On-Premise Hosting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Cloud Hosting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894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AEAB1-1B7B-B8A7-8BA4-0DEFD76E5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5F13-5C36-CAAF-F886-8D042CB31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is cloud Database?</a:t>
            </a:r>
          </a:p>
        </p:txBody>
      </p:sp>
      <p:pic>
        <p:nvPicPr>
          <p:cNvPr id="4" name="Content Placeholder 3" descr="A diagram of a cloud database&#10;&#10;AI-generated content may be incorrect.">
            <a:extLst>
              <a:ext uri="{FF2B5EF4-FFF2-40B4-BE49-F238E27FC236}">
                <a16:creationId xmlns:a16="http://schemas.microsoft.com/office/drawing/2014/main" id="{546FFBFD-8176-576C-2D27-57EB3297D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8167" y="1935564"/>
            <a:ext cx="4714247" cy="471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95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10A9A-DED3-BA15-4A54-3CD69760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53BB0-6CB4-A527-51D7-A4FFB338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Examples of cloud Database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DC21E5-BED2-2427-14A0-67576471C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22">
            <a:extLst>
              <a:ext uri="{FF2B5EF4-FFF2-40B4-BE49-F238E27FC236}">
                <a16:creationId xmlns:a16="http://schemas.microsoft.com/office/drawing/2014/main" id="{42CC6095-9921-13F2-03F5-2FBAC4DD07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2115911"/>
              </p:ext>
            </p:extLst>
          </p:nvPr>
        </p:nvGraphicFramePr>
        <p:xfrm>
          <a:off x="1675122" y="2180496"/>
          <a:ext cx="8348004" cy="33891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74002">
                  <a:extLst>
                    <a:ext uri="{9D8B030D-6E8A-4147-A177-3AD203B41FA5}">
                      <a16:colId xmlns:a16="http://schemas.microsoft.com/office/drawing/2014/main" val="3155964597"/>
                    </a:ext>
                  </a:extLst>
                </a:gridCol>
                <a:gridCol w="4174002">
                  <a:extLst>
                    <a:ext uri="{9D8B030D-6E8A-4147-A177-3AD203B41FA5}">
                      <a16:colId xmlns:a16="http://schemas.microsoft.com/office/drawing/2014/main" val="1626545004"/>
                    </a:ext>
                  </a:extLst>
                </a:gridCol>
              </a:tblGrid>
              <a:tr h="11297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Cloud Database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Examples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38890548"/>
                  </a:ext>
                </a:extLst>
              </a:tr>
              <a:tr h="11297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Relational Cloud Databases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AWS RDS, Azure SQL Database, Google Cloud SQL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89173656"/>
                  </a:ext>
                </a:extLst>
              </a:tr>
              <a:tr h="11297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NoSQL Cloud Databases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MongoDB Atlas, AWS DynamoDB, Google </a:t>
                      </a:r>
                      <a:r>
                        <a:rPr lang="en-US" sz="1600" kern="100" dirty="0" err="1">
                          <a:effectLst/>
                        </a:rPr>
                        <a:t>Firestore</a:t>
                      </a:r>
                      <a:r>
                        <a:rPr lang="en-US" sz="1600" kern="100" dirty="0">
                          <a:effectLst/>
                        </a:rPr>
                        <a:t>, Azure Cosmos DB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45724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821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24ADB-F48B-E8AD-C473-05D8081F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CE08-DD60-6D93-7DD3-9CE86B3BC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💭 Think–Pair–Share Activity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550E19-3039-730E-2FA7-87E5569A1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Cloud Databases – Advantages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3089412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4A3FC-7499-3139-82E6-5E7E68F55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3D11-74CA-1179-85AA-458E7385A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Data-intensive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040FA-B59D-A685-2FC7-B1C30E002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600" dirty="0"/>
              <a:t>What are Data-Intensive Applications?</a:t>
            </a:r>
          </a:p>
          <a:p>
            <a:endParaRPr lang="en-US" sz="3600" dirty="0"/>
          </a:p>
          <a:p>
            <a:r>
              <a:rPr lang="en-US" sz="3600" dirty="0"/>
              <a:t>Focus on handling large volumes of data rather than performing complex computations.</a:t>
            </a:r>
          </a:p>
          <a:p>
            <a:r>
              <a:rPr lang="en-US" sz="3600" dirty="0"/>
              <a:t>Involve extensive data storage, retrieval, and processing.</a:t>
            </a:r>
          </a:p>
          <a:p>
            <a:r>
              <a:rPr lang="en-US" sz="3600" dirty="0"/>
              <a:t>Require fast and consistent access to data.</a:t>
            </a:r>
          </a:p>
          <a:p>
            <a:r>
              <a:rPr lang="en-US" sz="3600" dirty="0"/>
              <a:t>Must be scalable to handle growing data and user loads.</a:t>
            </a:r>
          </a:p>
          <a:p>
            <a:r>
              <a:rPr lang="en-US" sz="3600" dirty="0"/>
              <a:t>Common in systems with real-time access and multiple concurrent users.</a:t>
            </a:r>
          </a:p>
          <a:p>
            <a:r>
              <a:rPr lang="en-US" sz="3600" dirty="0"/>
              <a:t>Depend heavily on reliable databases and DBMSs for performance and stability.</a:t>
            </a:r>
          </a:p>
        </p:txBody>
      </p:sp>
    </p:spTree>
    <p:extLst>
      <p:ext uri="{BB962C8B-B14F-4D97-AF65-F5344CB8AC3E}">
        <p14:creationId xmlns:p14="http://schemas.microsoft.com/office/powerpoint/2010/main" val="2166607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FC7E4-C807-25D3-B68A-296DDE3DA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74E7-4057-E57B-56D2-A4590C63B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Examples of Data-Intensive Applications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76B86F-1925-8A1B-149C-4CD3722FB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Content Placeholder 15">
            <a:extLst>
              <a:ext uri="{FF2B5EF4-FFF2-40B4-BE49-F238E27FC236}">
                <a16:creationId xmlns:a16="http://schemas.microsoft.com/office/drawing/2014/main" id="{BC1D1B51-80AF-E4B6-0A3E-6B361485BE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5706578"/>
              </p:ext>
            </p:extLst>
          </p:nvPr>
        </p:nvGraphicFramePr>
        <p:xfrm>
          <a:off x="1030975" y="2180496"/>
          <a:ext cx="9829800" cy="38367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601653215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181802945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810236946"/>
                    </a:ext>
                  </a:extLst>
                </a:gridCol>
              </a:tblGrid>
              <a:tr h="4414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Domain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Example Application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Types of Data Handled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26683914"/>
                  </a:ext>
                </a:extLst>
              </a:tr>
              <a:tr h="4414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Social Media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Facebook, Instagram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Posts, images, comments, likes, user profiles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02221156"/>
                  </a:ext>
                </a:extLst>
              </a:tr>
              <a:tr h="4414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E-Commerce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Amazon, eBay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Product listings, transactions, user carts, reviews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6780451"/>
                  </a:ext>
                </a:extLst>
              </a:tr>
              <a:tr h="8654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Banking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Online banking apps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Customer info, transactions, loan history, statements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95049179"/>
                  </a:ext>
                </a:extLst>
              </a:tr>
              <a:tr h="4414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Education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Learning Management Systems (LMS), like Moodle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Grades, courses, materials, attendance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8925085"/>
                  </a:ext>
                </a:extLst>
              </a:tr>
              <a:tr h="4414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Search Engines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Google, Bing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Crawled pages, user queries, ranking metadata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57969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557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AB26-6E8C-AE04-566D-F00CBA499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290D-C34C-406F-7567-A181F38E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Why is a DBMS Critical for Data-Intensive Applications?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AAC165-611C-EE6E-AC71-8CFED0426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B74C07-370E-2B1C-FA9F-0F1BB9D668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7424896"/>
              </p:ext>
            </p:extLst>
          </p:nvPr>
        </p:nvGraphicFramePr>
        <p:xfrm>
          <a:off x="838199" y="2180496"/>
          <a:ext cx="10515600" cy="4598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244153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34261083"/>
                    </a:ext>
                  </a:extLst>
                </a:gridCol>
              </a:tblGrid>
              <a:tr h="5748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DBMS Feature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How It Helps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05953935"/>
                  </a:ext>
                </a:extLst>
              </a:tr>
              <a:tr h="5748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Data Storage &amp; Retrieval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Efficient storage of huge volumes of structured data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9204460"/>
                  </a:ext>
                </a:extLst>
              </a:tr>
              <a:tr h="5748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Indexing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Fast lookups and search operations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5713909"/>
                  </a:ext>
                </a:extLst>
              </a:tr>
              <a:tr h="5748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Transactions &amp; Concurrency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Handles simultaneous users and operations safely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52525468"/>
                  </a:ext>
                </a:extLst>
              </a:tr>
              <a:tr h="5748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Security &amp; Access Control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Ensures authorized access to sensitive data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73228186"/>
                  </a:ext>
                </a:extLst>
              </a:tr>
              <a:tr h="5748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Backup &amp; Recovery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Prevents data loss in case of failure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24447647"/>
                  </a:ext>
                </a:extLst>
              </a:tr>
              <a:tr h="5748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Query Optimization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Speeds up processing of complex queries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9188709"/>
                  </a:ext>
                </a:extLst>
              </a:tr>
              <a:tr h="5748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Scalability (esp. in Cloud)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Supports growth in data, users, and workloads dynamically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76162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7348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EBDF-AFA1-18ED-68A7-5F57D0D7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7B200-E0CC-EF48-3D5F-ABE8BA55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Homework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F960D-5569-3229-D3CB-246A77BB8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dirty="0"/>
              <a:t>Identify and describe five (5) modern technologies used in data-intensive applications.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For each technology, include:</a:t>
            </a:r>
          </a:p>
          <a:p>
            <a:pPr marL="576000" lvl="2">
              <a:lnSpc>
                <a:spcPct val="80000"/>
              </a:lnSpc>
            </a:pPr>
            <a:r>
              <a:rPr lang="en-US" sz="2400" dirty="0"/>
              <a:t>The name of the technology</a:t>
            </a:r>
          </a:p>
          <a:p>
            <a:pPr marL="576000" lvl="2">
              <a:lnSpc>
                <a:spcPct val="80000"/>
              </a:lnSpc>
            </a:pPr>
            <a:r>
              <a:rPr lang="en-US" sz="2400" dirty="0"/>
              <a:t>Its purpose or function</a:t>
            </a:r>
          </a:p>
          <a:p>
            <a:pPr marL="576000" lvl="2">
              <a:lnSpc>
                <a:spcPct val="80000"/>
              </a:lnSpc>
            </a:pPr>
            <a:r>
              <a:rPr lang="en-US" sz="2400" dirty="0"/>
              <a:t>One real-world example where it is used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93535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you have to do by 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Try out the self-test questions on the course web.</a:t>
            </a:r>
          </a:p>
          <a:p>
            <a:r>
              <a:rPr lang="en-US" sz="2400" dirty="0"/>
              <a:t>Try out tutorial and bring the answers to the class.</a:t>
            </a:r>
          </a:p>
        </p:txBody>
      </p:sp>
    </p:spTree>
    <p:extLst>
      <p:ext uri="{BB962C8B-B14F-4D97-AF65-F5344CB8AC3E}">
        <p14:creationId xmlns:p14="http://schemas.microsoft.com/office/powerpoint/2010/main" val="79157869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1965</TotalTime>
  <Words>1350</Words>
  <Application>Microsoft Office PowerPoint</Application>
  <PresentationFormat>Widescreen</PresentationFormat>
  <Paragraphs>184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Gill Sans MT</vt:lpstr>
      <vt:lpstr>Wingdings</vt:lpstr>
      <vt:lpstr>Wingdings 2</vt:lpstr>
      <vt:lpstr>Dividend</vt:lpstr>
      <vt:lpstr>Database Design and Development (it 2140)</vt:lpstr>
      <vt:lpstr>Lecture content</vt:lpstr>
      <vt:lpstr>Learning outcomes</vt:lpstr>
      <vt:lpstr>What is Data vs Information?</vt:lpstr>
      <vt:lpstr>What is Data vs Information?</vt:lpstr>
      <vt:lpstr>What is a database &amp; a dbms?</vt:lpstr>
      <vt:lpstr>What is a database &amp; a dbms?</vt:lpstr>
      <vt:lpstr>❓ Question for Students</vt:lpstr>
      <vt:lpstr>Database System Environment</vt:lpstr>
      <vt:lpstr>Database approach vs file processing system</vt:lpstr>
      <vt:lpstr>Advantages of database approach</vt:lpstr>
      <vt:lpstr>Database design</vt:lpstr>
      <vt:lpstr>Database design process</vt:lpstr>
      <vt:lpstr>Step 1: Requirement collection and analysis</vt:lpstr>
      <vt:lpstr>Step 1: Requirement collection and analysis</vt:lpstr>
      <vt:lpstr>Step 2: Conceptual database design</vt:lpstr>
      <vt:lpstr>Step 3: Logical database design</vt:lpstr>
      <vt:lpstr>Step 4: Schema Refinement</vt:lpstr>
      <vt:lpstr>Step 5: Physical Database Design</vt:lpstr>
      <vt:lpstr>Step 6: Security Design</vt:lpstr>
      <vt:lpstr>Database Hosting</vt:lpstr>
      <vt:lpstr>Types of Database Hosting</vt:lpstr>
      <vt:lpstr>What is cloud Database?</vt:lpstr>
      <vt:lpstr>Examples of cloud Database</vt:lpstr>
      <vt:lpstr>💭 Think–Pair–Share Activity</vt:lpstr>
      <vt:lpstr>Data-intensive applications</vt:lpstr>
      <vt:lpstr>Examples of Data-Intensive Applications</vt:lpstr>
      <vt:lpstr>Why is a DBMS Critical for Data-Intensive Applications?</vt:lpstr>
      <vt:lpstr>Homework question</vt:lpstr>
      <vt:lpstr>What you have to do by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(it 2040)</dc:title>
  <dc:creator>Anuradha Karunnasena</dc:creator>
  <cp:lastModifiedBy>Sanji Chandrasiri</cp:lastModifiedBy>
  <cp:revision>106</cp:revision>
  <dcterms:created xsi:type="dcterms:W3CDTF">2017-12-01T06:14:40Z</dcterms:created>
  <dcterms:modified xsi:type="dcterms:W3CDTF">2025-07-14T17:58:56Z</dcterms:modified>
</cp:coreProperties>
</file>